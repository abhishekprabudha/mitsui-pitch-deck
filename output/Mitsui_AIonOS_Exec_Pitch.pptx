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account plan: Mitsui Account Plan.pptx (uploaded by user)
- Mitsui medium-term management plan: https://www.mitsui.com/jp/en/company/outline/management/index.html
- Mitsui restructuring release: https://www.mitsui.com/jp/en/release/2026/1252736_15351.html
- AIonOS website: https://aionos.io/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account plan: Mitsui Account Plan.pptx (uploaded by user)
- Mitsui MTMP 2026 page: https://www.mitsui.com/jp/en/company/outline/management/index.html
- Mitsui restructuring release noting three key strategic initiatives: https://www.mitsui.com/jp/en/release/2026/1252736_15351.html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account plan: Mitsui Account Plan.pptx (uploaded by user)
- AIonOS homepage: https://aionos.io/
- UniStack page: https://aionos.io/intellimate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account plan: Mitsui Account Plan.pptx (uploaded by user)
- Mitsui MTMP and restructuring materials emphasizing energy transition: https://www.mitsui.com/jp/en/company/outline/management/index.html ; https://www.mitsui.com/jp/en/release/2026/1252736_15351.html
- AIonOS homepage / UniStack page: https://aionos.io/ ; https://aionos.io/intellimate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account plan: Mitsui Account Plan.pptx (uploaded by user)
- AIonOS homepage (enterprise AI operating system positioning): https://aionos.io/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AIonOS homepage and product pages: https://aionos.io/ ; https://aionos.io/intellimate
- Internal account plan: Mitsui Account Plan.pptx (uploaded by user)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account plan: Mitsui Account Plan.pptx (uploaded by user)
- AIonOS homepage and product pages: https://aionos.io/ ; https://aionos.io/intellimate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455664"/>
            <a:ext cx="11274552" cy="9144"/>
          </a:xfrm>
          <a:prstGeom prst="rect">
            <a:avLst/>
          </a:prstGeom>
          <a:solidFill>
            <a:srgbClr val="D7DFEA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922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AIonOS x Mitsui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sui_repo/assets/energy_control_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411480"/>
            <a:ext cx="6537960" cy="4709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>
              <a:alpha val="64000"/>
            </a:srgbClr>
          </a:solidFill>
          <a:ln w="12700">
            <a:solidFill>
              <a:srgbClr val="0911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09111F">
                <a:alpha val="0"/>
              </a:srgbClr>
            </a:solidFill>
            <a:prstDash val="solid"/>
          </a:ln>
        </p:spPr>
      </p:sp>
      <p:pic>
        <p:nvPicPr>
          <p:cNvPr id="5" name="Image 1" descr="/mnt/data/mitsui_repo/assets/aiono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82" y="502920"/>
            <a:ext cx="1582436" cy="4754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280160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Transforming Mitsui's next growth engines with AI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67512" y="2651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1F0"/>
                </a:solidFill>
              </a:rPr>
              <a:t>Executive pitch deck scaffold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5E1F0"/>
                </a:solidFill>
              </a:rPr>
              <a:t>Top-consulting style · 5-second attention-span design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8368" y="3749040"/>
            <a:ext cx="1371600" cy="310896"/>
          </a:xfrm>
          <a:prstGeom prst="rect">
            <a:avLst/>
          </a:prstGeom>
          <a:solidFill>
            <a:srgbClr val="0B5FFF"/>
          </a:solidFill>
          <a:ln>
            <a:solidFill>
              <a:srgbClr val="0B5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ENERGY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148840" y="3749040"/>
            <a:ext cx="1554480" cy="31089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840480" y="3749040"/>
            <a:ext cx="960120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67512" y="429768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1F0"/>
                </a:solidFill>
              </a:rPr>
              <a:t>Built around Mitsui's digital transformation agenda, with emphasis on energy transition, wellness ecosystem creation, and cross-business productivity.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85800" y="6035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BCD1"/>
                </a:solidFill>
              </a:rPr>
              <a:t>MITSUI × AIONOS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now: Mitsui is reorganizing around the next value pools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One message: AI should accelerate Mitsui's strongest strategic motions, not add another tool layer.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123444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123444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81328"/>
            <a:ext cx="1325880" cy="310896"/>
          </a:xfrm>
          <a:prstGeom prst="rect">
            <a:avLst/>
          </a:prstGeom>
          <a:solidFill>
            <a:srgbClr val="0B5FFF"/>
          </a:solidFill>
          <a:ln>
            <a:solidFill>
              <a:srgbClr val="0B5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26280" y="1481328"/>
            <a:ext cx="1325880" cy="31089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83880" y="1481328"/>
            <a:ext cx="1325880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836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Global energy transition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1883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Wellness ecosystem creation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83880" y="188366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Industrial business solutions</a:t>
            </a:r>
            <a:endParaRPr lang="en-US" sz="2000" dirty="0"/>
          </a:p>
        </p:txBody>
      </p:sp>
      <p:pic>
        <p:nvPicPr>
          <p:cNvPr id="13" name="Image 0" descr="/mnt/data/mitsui_repo/assets/mitsui_building.jpg">    </p:cNvPr>
          <p:cNvPicPr>
            <a:picLocks noChangeAspect="1"/>
          </p:cNvPicPr>
          <p:nvPr/>
        </p:nvPicPr>
        <p:blipFill>
          <a:blip r:embed="rId1"/>
          <a:srcRect l="0" r="0" t="8974" b="8974"/>
          <a:stretch/>
        </p:blipFill>
        <p:spPr>
          <a:xfrm>
            <a:off x="868680" y="2359152"/>
            <a:ext cx="2971800" cy="1371600"/>
          </a:xfrm>
          <a:prstGeom prst="rect">
            <a:avLst/>
          </a:prstGeom>
        </p:spPr>
      </p:pic>
      <p:pic>
        <p:nvPicPr>
          <p:cNvPr id="14" name="Image 1" descr="/mnt/data/mitsui_repo/assets/healthcare_ai.png">    </p:cNvPr>
          <p:cNvPicPr>
            <a:picLocks noChangeAspect="1"/>
          </p:cNvPicPr>
          <p:nvPr/>
        </p:nvPicPr>
        <p:blipFill>
          <a:blip r:embed="rId2"/>
          <a:srcRect l="0" r="0" t="11176" b="11177"/>
          <a:stretch/>
        </p:blipFill>
        <p:spPr>
          <a:xfrm>
            <a:off x="4526280" y="2359152"/>
            <a:ext cx="2971800" cy="1371600"/>
          </a:xfrm>
          <a:prstGeom prst="rect">
            <a:avLst/>
          </a:prstGeom>
        </p:spPr>
      </p:pic>
      <p:pic>
        <p:nvPicPr>
          <p:cNvPr id="15" name="Image 2" descr="/mnt/data/mitsui_repo/assets/enterprise_command.png">    </p:cNvPr>
          <p:cNvPicPr>
            <a:picLocks noChangeAspect="1"/>
          </p:cNvPicPr>
          <p:nvPr/>
        </p:nvPicPr>
        <p:blipFill>
          <a:blip r:embed="rId3"/>
          <a:srcRect l="0" r="0" t="11719" b="11719"/>
          <a:stretch/>
        </p:blipFill>
        <p:spPr>
          <a:xfrm>
            <a:off x="8183880" y="2359152"/>
            <a:ext cx="2971800" cy="1371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3913632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Mitsui says the current MTMP is driven by three key initiatives and explicitly highlights Global Energy Transition and Wellness Ecosystem Creation.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26280" y="3913632"/>
            <a:ext cx="2852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Your account-plan intelligence points to healthcare as a board-level digital-transformation wedge, especially for multilingual engagement and operating consistency.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183880" y="391363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The opportunity is cross-BU orchestration: data, risk, and decision support moving faster across energy, mobility, healthcare, and trading.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68680" y="58704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FFF"/>
                </a:solidFill>
              </a:rPr>
              <a:t>AI thesis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691640" y="580644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Win by deploying one governed AI operating layer across the businesses Mitsui already prioritizes.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Fastest executive storyline: 3 value pools, 1 AI operating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Keep the slide glanceable: three business outcomes and one unifying control layer.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137160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636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Energy operations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19202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Predict outages, optimize throughput, reduce incident exposure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Control towers, plant monitoring, trading adjacencies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71800"/>
            <a:ext cx="73152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1181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Healthcare service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6112" y="34747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Automate patient / customer journeys across languages and channels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37856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Contact centers, hospitals, digital service layers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45262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526280"/>
            <a:ext cx="73152" cy="1371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6725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Enterprise decisioning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6112" y="50292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Connect data, workflows, and agent actions across business units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6112" y="53400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Portfolio, procurement, risk, compliance, PMO</a:t>
            </a:r>
            <a:endParaRPr lang="en-US" sz="900" dirty="0"/>
          </a:p>
        </p:txBody>
      </p:sp>
      <p:pic>
        <p:nvPicPr>
          <p:cNvPr id="19" name="Image 0" descr="/mnt/data/mitsui_repo/assets/enterprise_command.png">    </p:cNvPr>
          <p:cNvPicPr>
            <a:picLocks noChangeAspect="1"/>
          </p:cNvPicPr>
          <p:nvPr/>
        </p:nvPicPr>
        <p:blipFill>
          <a:blip r:embed="rId1"/>
          <a:srcRect l="2725" r="2725" t="0" b="0"/>
          <a:stretch/>
        </p:blipFill>
        <p:spPr>
          <a:xfrm>
            <a:off x="4754880" y="1417320"/>
            <a:ext cx="6812280" cy="43434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537960" y="5074920"/>
            <a:ext cx="3246120" cy="512064"/>
          </a:xfrm>
          <a:prstGeom prst="roundRect">
            <a:avLst>
              <a:gd name="adj" fmla="val 10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523036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 STACK = governance + orchestration + observability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0" y="5760720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executive promise is simple: Mitsui does not need separate AI experiments per business. It needs one operating layer that routes models, data, workflows, and controls to the highest-value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1: AI control tower for energy and infrastructure assets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For executives: safer operations, faster decisions, better utilization.</a:t>
            </a:r>
            <a:endParaRPr lang="en-US" sz="1050" dirty="0"/>
          </a:p>
        </p:txBody>
      </p:sp>
      <p:pic>
        <p:nvPicPr>
          <p:cNvPr id="4" name="Image 0" descr="/mnt/data/mitsui_repo/assets/energy_control_room.png">    </p:cNvPr>
          <p:cNvPicPr>
            <a:picLocks noChangeAspect="1"/>
          </p:cNvPicPr>
          <p:nvPr/>
        </p:nvPicPr>
        <p:blipFill>
          <a:blip r:embed="rId1"/>
          <a:srcRect l="30599" r="30599" t="0" b="0"/>
          <a:stretch/>
        </p:blipFill>
        <p:spPr>
          <a:xfrm>
            <a:off x="685800" y="1234440"/>
            <a:ext cx="649224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417320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34656" y="14721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PREDICTIVE MONITORING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43800" y="1901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Stream plant, trading, maintenance and cybersecurity signals into one operating cockpit.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98080" y="2697480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34656" y="275234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MANAGEMENT BY EXCEPTION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3182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AI flags anomalies, prioritizes response playbooks, and routes only material events to humans.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8080" y="3977640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34656" y="403250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BOARD-LEVEL OUTCOME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43800" y="4462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Lower incident risk, less downtime, and better asset performance across energy transition investments.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25512" y="54132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FFF"/>
                </a:solidFill>
              </a:rPr>
              <a:t>Illustrative pilot wedge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43800" y="5596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Start with a single LNG / power / industrial asset cluster, then scale the same playbook across similar portfolios.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2: multilingual AI service layer for healthcare and wellness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For executives: better experience, lower service cost, more scalable growth.</a:t>
            </a:r>
            <a:endParaRPr lang="en-US" sz="1050" dirty="0"/>
          </a:p>
        </p:txBody>
      </p:sp>
      <p:pic>
        <p:nvPicPr>
          <p:cNvPr id="4" name="Image 0" descr="/mnt/data/mitsui_repo/assets/healthcare_ai.png">    </p:cNvPr>
          <p:cNvPicPr>
            <a:picLocks noChangeAspect="1"/>
          </p:cNvPicPr>
          <p:nvPr/>
        </p:nvPicPr>
        <p:blipFill>
          <a:blip r:embed="rId1"/>
          <a:srcRect l="11912" r="11912" t="0" b="0"/>
          <a:stretch/>
        </p:blipFill>
        <p:spPr>
          <a:xfrm>
            <a:off x="5577840" y="1280160"/>
            <a:ext cx="603504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50876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08760"/>
            <a:ext cx="73152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16550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Patient / customer journeys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96112" y="2011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Automate triage, scheduling, FAQs, follow-up and digital front door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288036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880360"/>
            <a:ext cx="73152" cy="1170432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30266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Multilingual consistency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96112" y="33832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Standardize service quality across countries, channels and subsidiaries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425196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251960"/>
            <a:ext cx="73152" cy="11704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43982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Growth without linear headcount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96112" y="47548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Support healthcare expansion with AI-first service delivery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669280" y="5394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Why this matters for Mitsui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69280" y="55961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Healthcare is already a strategic growth domain in the account plan; AI makes the operating model easier to replicate across regions.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AIonOS platform map for Mitsui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Position products as an outcome stack, not a software catalog.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2423160" cy="4251960"/>
          </a:xfrm>
          <a:prstGeom prst="roundRect">
            <a:avLst>
              <a:gd name="adj" fmla="val 2264"/>
            </a:avLst>
          </a:prstGeom>
          <a:solidFill>
            <a:srgbClr val="EAF2FF"/>
          </a:solidFill>
          <a:ln w="12700">
            <a:solidFill>
              <a:srgbClr val="C7DA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19272" y="1417320"/>
            <a:ext cx="2423160" cy="4251960"/>
          </a:xfrm>
          <a:prstGeom prst="roundRect">
            <a:avLst>
              <a:gd name="adj" fmla="val 2264"/>
            </a:avLst>
          </a:prstGeom>
          <a:solidFill>
            <a:srgbClr val="ECFDF5"/>
          </a:solidFill>
          <a:ln w="12700">
            <a:solidFill>
              <a:srgbClr val="C3F0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5584" y="1417320"/>
            <a:ext cx="2423160" cy="4251960"/>
          </a:xfrm>
          <a:prstGeom prst="roundRect">
            <a:avLst>
              <a:gd name="adj" fmla="val 2264"/>
            </a:avLst>
          </a:prstGeom>
          <a:solidFill>
            <a:srgbClr val="FFF4EA"/>
          </a:solidFill>
          <a:ln w="12700">
            <a:solidFill>
              <a:srgbClr val="FFD9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11896" y="1417320"/>
            <a:ext cx="2423160" cy="4251960"/>
          </a:xfrm>
          <a:prstGeom prst="roundRect">
            <a:avLst>
              <a:gd name="adj" fmla="val 2264"/>
            </a:avLst>
          </a:prstGeom>
          <a:solidFill>
            <a:srgbClr val="EEF2FF"/>
          </a:solidFill>
          <a:ln w="12700">
            <a:solidFill>
              <a:srgbClr val="D4D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737360"/>
            <a:ext cx="1005840" cy="310896"/>
          </a:xfrm>
          <a:prstGeom prst="rect">
            <a:avLst/>
          </a:prstGeom>
          <a:solidFill>
            <a:srgbClr val="0B5FFF"/>
          </a:solidFill>
          <a:ln>
            <a:solidFill>
              <a:srgbClr val="0B5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75304" y="1737360"/>
            <a:ext cx="1005840" cy="31089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UniWeave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71616" y="1737360"/>
            <a:ext cx="1005840" cy="31089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UniScale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67928" y="1737360"/>
            <a:ext cx="1005840" cy="310896"/>
          </a:xfrm>
          <a:prstGeom prst="rect">
            <a:avLst/>
          </a:prstGeom>
          <a:solidFill>
            <a:srgbClr val="5B5BD6"/>
          </a:solidFill>
          <a:ln>
            <a:solidFill>
              <a:srgbClr val="5B5BD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UniProtect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21762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Control layer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75304" y="21762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Service layer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71616" y="21762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Data layer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7928" y="21762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Resilience layer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8992" y="2606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Orchestrate models, agents, workflows, and cloud/data operations across Mitsui's businesses.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75304" y="2606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Transform customer, patient, and partner interactions across channels and geographies.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71616" y="2606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Monetize data and improve forecasting, pricing, and portfolio-level decision support.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67928" y="2606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Reduce cyber and operational risk across critical assets and digital infrastructure.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24128" y="470916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76402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Cross-BU governance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470916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57016" y="476402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Healthcare growth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16752" y="470916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476402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Trading intelligence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13064" y="470916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476402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Asset protection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executive ask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Keep the close commercial: one pilot, one sponsor set, one measurable outcome.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09728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093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Step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19659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Select 1 energy and 1 healthcare pilot wedge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87552" y="227685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Board-level thesis, local execution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88920"/>
            <a:ext cx="73152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93522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Step 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552" y="32918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Stand up the common AI operating layer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87552" y="360273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Data + workflow + governance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41148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73152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26110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Step 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7552" y="461772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Track 3 metrics only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87552" y="492861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Speed, cost, risk / service quality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6903720" cy="4526280"/>
          </a:xfrm>
          <a:prstGeom prst="roundRect">
            <a:avLst>
              <a:gd name="adj" fmla="val 12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Pilot scoreboard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83480" y="23317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331720"/>
            <a:ext cx="73152" cy="10515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247802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&lt;12 weeks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48072" y="28346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to show usable pilot output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78040" y="23317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2331720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247802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 sponsors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42632" y="28346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business + digital owner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372600" y="23317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72600" y="2331720"/>
            <a:ext cx="73152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37192" y="247802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 stack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537192" y="28346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shared controls and observability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83480" y="3794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BCD1"/>
                </a:solidFill>
              </a:rPr>
              <a:t>Recommended narrative in the room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83480" y="4069080"/>
            <a:ext cx="5989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“We are not proposing another AI pilot factory. We are proposing one operating layer that improves Mitsui's priority businesses first, then scales enterprise-wide.”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Transforming Mitsui business outcomes with AI</dc:title>
  <dc:subject>AIonOS pitch for Mitsui</dc:subject>
  <dc:creator>OpenAI</dc:creator>
  <cp:lastModifiedBy>OpenAI</cp:lastModifiedBy>
  <cp:revision>1</cp:revision>
  <dcterms:created xsi:type="dcterms:W3CDTF">2026-04-01T10:25:41Z</dcterms:created>
  <dcterms:modified xsi:type="dcterms:W3CDTF">2026-04-01T10:25:41Z</dcterms:modified>
</cp:coreProperties>
</file>